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323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63238"/>
                </a:solidFill>
                <a:latin typeface="Arial"/>
              </a:rPr>
              <a:t>Attrition Rate (%)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E573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73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9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5D6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5D6A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0CBC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Under 25</c:v>
                  </c:pt>
                  <c:pt idx="1">
                    <c:v>25–34</c:v>
                  </c:pt>
                  <c:pt idx="2">
                    <c:v>35–44</c:v>
                  </c:pt>
                  <c:pt idx="3">
                    <c:v>45–54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39.2</c:v>
                </c:pt>
                <c:pt idx="1">
                  <c:v>20.2</c:v>
                </c:pt>
                <c:pt idx="2">
                  <c:v>10.1</c:v>
                </c:pt>
                <c:pt idx="3">
                  <c:v>10.2</c:v>
                </c:pt>
                <c:pt idx="4">
                  <c:v>15.9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323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63238"/>
                </a:solidFill>
                <a:latin typeface="Arial"/>
              </a:rPr>
              <a:t>Attrition Rate (%) by Years at Company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E573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73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9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5D6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0CBC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0–2 Years</c:v>
                  </c:pt>
                  <c:pt idx="1">
                    <c:v>3–5 Years</c:v>
                  </c:pt>
                  <c:pt idx="2">
                    <c:v>6–10 Years</c:v>
                  </c:pt>
                  <c:pt idx="3">
                    <c:v>11–20 Years</c:v>
                  </c:pt>
                  <c:pt idx="4">
                    <c:v>20+ Years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29.8</c:v>
                </c:pt>
                <c:pt idx="1">
                  <c:v>13.8</c:v>
                </c:pt>
                <c:pt idx="2">
                  <c:v>12.3</c:v>
                </c:pt>
                <c:pt idx="3">
                  <c:v>6.7</c:v>
                </c:pt>
                <c:pt idx="4">
                  <c:v>12.1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323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63238"/>
                </a:solidFill>
                <a:latin typeface="Arial"/>
              </a:rPr>
              <a:t>Attrition Rate (%) by Monthly Income Bracket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E573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73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9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5D6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&lt; $3,000</c:v>
                  </c:pt>
                  <c:pt idx="1">
                    <c:v>$3k – $6k</c:v>
                  </c:pt>
                  <c:pt idx="2">
                    <c:v>$6k – $10k</c:v>
                  </c:pt>
                  <c:pt idx="3">
                    <c:v>$10,000+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28.6</c:v>
                </c:pt>
                <c:pt idx="1">
                  <c:v>12.7</c:v>
                </c:pt>
                <c:pt idx="2">
                  <c:v>12</c:v>
                </c:pt>
                <c:pt idx="3">
                  <c:v>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201168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Analysis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Turnover Trends &amp; Insights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4389120"/>
            <a:ext cx="82296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 |  HR Department  | 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1F"/>
          </a:solidFill>
          <a:ln/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10058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91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657600" cy="3200400"/>
          </a:xfrm>
          <a:prstGeom prst="rect">
            <a:avLst/>
          </a:prstGeom>
          <a:solidFill>
            <a:srgbClr val="1B3A1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in 6 employees have left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0058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005840"/>
            <a:ext cx="1920240" cy="73152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57200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100584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66560" y="1005840"/>
            <a:ext cx="192024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1,233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76656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Employed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0" y="2743200"/>
            <a:ext cx="4297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0" y="2743200"/>
            <a:ext cx="54864" cy="1645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283464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
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has a notable attrition rate of 16.1%. Industry average is typically 10-15%, suggesting room for improvement in employee retention strategies.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1F"/>
          </a:solidFill>
          <a:ln/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10058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91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Attrition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91440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943600" y="914400"/>
            <a:ext cx="2926080" cy="54864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8" name="Text 4"/>
          <p:cNvSpPr/>
          <p:nvPr/>
        </p:nvSpPr>
        <p:spPr>
          <a:xfrm>
            <a:off x="60350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035040" y="150876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under 25 have the highest attrition at 39.2%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 age group also shows elevated turnover at 20.2%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aged 35–44 are most stable at ~10%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of leavers: 33.6 vs. 37.6 for those who stay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employees are significantly more likely to leave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1F"/>
          </a:solidFill>
          <a:ln/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10058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91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at Company and Attrition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91440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943600" y="914400"/>
            <a:ext cx="292608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4"/>
          <p:cNvSpPr/>
          <p:nvPr/>
        </p:nvSpPr>
        <p:spPr>
          <a:xfrm>
            <a:off x="60350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035040" y="150876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employees (0–2 yrs) have the highest attrition at 29.8%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drops sharply after 5 years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loyal group: 11–20 years at just 6.7%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 of leavers: 5.1 yrs vs 7.4 yrs for stayers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career engagement is the most critical period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1F"/>
          </a:solidFill>
          <a:ln/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100584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91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Attrition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91440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943600" y="914400"/>
            <a:ext cx="2926080" cy="54864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8" name="Text 4"/>
          <p:cNvSpPr/>
          <p:nvPr/>
        </p:nvSpPr>
        <p:spPr>
          <a:xfrm>
            <a:off x="60350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035040" y="150876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earners (&lt;$3k/mo) have the highest attrition at 28.6%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nearly halves as income crosses $3,000/mo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earners ($10k+) have the lowest attrition at 8.9%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income of leavers: $4,787 vs $6,833 for stayers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is a strong predictor of employee retention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09728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1828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Recommendations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143000"/>
            <a:ext cx="2606040" cy="3474720"/>
          </a:xfrm>
          <a:prstGeom prst="rect">
            <a:avLst/>
          </a:prstGeom>
          <a:solidFill>
            <a:srgbClr val="243B27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53312" y="12344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8" name="Text 5"/>
          <p:cNvSpPr/>
          <p:nvPr/>
        </p:nvSpPr>
        <p:spPr>
          <a:xfrm>
            <a:off x="1353312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Early Tenure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29.8% of 0–2 year employees leave. Improve onboarding and early engagement programs.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06040" cy="3474720"/>
          </a:xfrm>
          <a:prstGeom prst="rect">
            <a:avLst/>
          </a:prstGeom>
          <a:solidFill>
            <a:srgbClr val="243B27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87952" y="12344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0"/>
          <p:cNvSpPr/>
          <p:nvPr/>
        </p:nvSpPr>
        <p:spPr>
          <a:xfrm>
            <a:off x="4187952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291840" y="2011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Younger Staff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26060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Under-25 employees have 39.2% attrition. Mentorship and career path clarity are key.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1143000"/>
            <a:ext cx="2606040" cy="3474720"/>
          </a:xfrm>
          <a:prstGeom prst="rect">
            <a:avLst/>
          </a:prstGeom>
          <a:solidFill>
            <a:srgbClr val="243B27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022592" y="12344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5"/>
          <p:cNvSpPr/>
          <p:nvPr/>
        </p:nvSpPr>
        <p:spPr>
          <a:xfrm>
            <a:off x="7022592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26480" y="2011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Compensation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72200" y="26060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earning &lt;$3k/mo leave at 28.6%. Salary benchmarking can reduce attrition significantly.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 |  HR Attrition Analysis  |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Destinations HR Attrition Analysis</dc:title>
  <dc:subject>PptxGenJS Presentation</dc:subject>
  <dc:creator>PptxGenJS</dc:creator>
  <cp:lastModifiedBy>PptxGenJS</cp:lastModifiedBy>
  <cp:revision>1</cp:revision>
  <dcterms:created xsi:type="dcterms:W3CDTF">2026-05-20T17:41:05Z</dcterms:created>
  <dcterms:modified xsi:type="dcterms:W3CDTF">2026-05-20T17:41:05Z</dcterms:modified>
</cp:coreProperties>
</file>